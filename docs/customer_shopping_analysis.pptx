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678-4D15-96EE-CCF7441DD7CC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78-4D15-96EE-CCF7441DD7C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78-4D15-96EE-CCF7441DD7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Express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AOV</c:v>
                </c:pt>
                <c:pt idx="1">
                  <c:v>Revenue ($k)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60.5</c:v>
                </c:pt>
                <c:pt idx="1">
                  <c:v>39.1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B4-4579-B9AD-4FCE5E8CFD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AOV</c:v>
                </c:pt>
                <c:pt idx="1">
                  <c:v>Revenue ($k)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58.5</c:v>
                </c:pt>
                <c:pt idx="1">
                  <c:v>38.200000000000003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B4-4579-B9AD-4FCE5E8CFD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AD-4D87-8C22-E01731120973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AD-4D87-8C22-E0173112097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AD-4D87-8C22-E0173112097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AD-4D87-8C22-E0173112097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Non-Subscribers (73%)</c:v>
                </c:pt>
                <c:pt idx="1">
                  <c:v>Subscribers (27%)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AD-4D87-8C22-E017311209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D4-4E60-BF36-0D69522BED17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D4-4E60-BF36-0D69522BED17}"/>
              </c:ext>
            </c:extLst>
          </c:dPt>
          <c:dPt>
            <c:idx val="2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D4-4E60-BF36-0D69522BED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D4-4E60-BF36-0D69522BED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D4-4E60-BF36-0D69522BED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D4-4E60-BF36-0D69522BED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New (20.1%)</c:v>
                </c:pt>
                <c:pt idx="1">
                  <c:v>Returning (40.2%)</c:v>
                </c:pt>
                <c:pt idx="2">
                  <c:v>Loyal (39.7%)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784</c:v>
                </c:pt>
                <c:pt idx="1">
                  <c:v>1567</c:v>
                </c:pt>
                <c:pt idx="2">
                  <c:v>1549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4D4-4E60-BF36-0D69522BE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45-4968-A3FC-911AD5A45460}"/>
              </c:ext>
            </c:extLst>
          </c:dPt>
          <c:dPt>
            <c:idx val="1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45-4968-A3FC-911AD5A454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45-4968-A3FC-911AD5A454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45-4968-A3FC-911AD5A454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Subscribed (27.6%)</c:v>
                </c:pt>
                <c:pt idx="1">
                  <c:v>Not Subscribed (72.4%)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</c:v>
                </c:pt>
                <c:pt idx="1">
                  <c:v>72.400000000000006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45-4968-A3FC-911AD5A454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74-4910-A375-09032D506D64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74-4910-A375-09032D506D64}"/>
              </c:ext>
            </c:extLst>
          </c:dPt>
          <c:dPt>
            <c:idx val="2"/>
            <c:invertIfNegative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74-4910-A375-09032D506D64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74-4910-A375-09032D506D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Middle-aged (45-60)</c:v>
                </c:pt>
                <c:pt idx="1">
                  <c:v>Adult (30-45)</c:v>
                </c:pt>
                <c:pt idx="2">
                  <c:v>Young (18-30)</c:v>
                </c:pt>
                <c:pt idx="3">
                  <c:v>Senior (&gt;60)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68066</c:v>
                </c:pt>
                <c:pt idx="1">
                  <c:v>65216</c:v>
                </c:pt>
                <c:pt idx="2">
                  <c:v>52905</c:v>
                </c:pt>
                <c:pt idx="3">
                  <c:v>46894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74-4910-A375-09032D506D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01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Documentation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86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70662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Zaid Shatat </a:t>
            </a:r>
            <a:r>
              <a:rPr lang="ar-JO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Data Science &amp; AI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T-SQL (SQL Server)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785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2611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7490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3785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42611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3785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42611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Language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4904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dbo.customer_shopping_behavior
</a:t>
            </a: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 rows
</a:t>
            </a: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= one customer's latest purchase
</a:t>
            </a: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Columns
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customer_id, gender, age_group
item_purchased, category
</a:t>
            </a: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
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purchase_amount_USD (latest)
previous_purchases (historical count)
</a:t>
            </a: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
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subscription_status, discount_applied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shipping_type, review_rating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49808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8778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Coverage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94960" y="1280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Segmentation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1545336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5453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15453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Discount Users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1810512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8105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94960" y="1810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Review Ratings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2075688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0756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94960" y="2075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Type Impact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340864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3408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94960" y="2340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6060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9496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Rate by Product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2871216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28712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94960" y="2871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37760" y="3136392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31363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4960" y="31363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Products per Category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4015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Buyers &amp; Subscription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3666744"/>
            <a:ext cx="38404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36667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3666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Age Group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Segmentation — Purchasing Behavior &amp; Revenue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8229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base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74980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8229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375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Customers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of 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74980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82296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— Females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$59.5 for Males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02996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2103120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Last-Txn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 the female cohort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02996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2103120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$75,191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54880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Last-Txn Revenue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lower customer count</a:t>
            </a:r>
            <a:endParaRPr lang="en-US" sz="9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3218688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5577840" y="3218688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15000" y="3291840"/>
            <a:ext cx="30175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
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Males are the primary revenue driver but female AOV ($60.2) is already competitive. Growth strategy: boost female acquisition volume.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+ Q6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+ Q6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Intelligence — Who Buys More &amp; Which Products Discount Most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877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High-Value Discount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261872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280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used a discount yet spent above average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374904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Subquery computes the global AVG purchase amount once. Outer filter returns customers with discount = 'Yes' AND purchase &gt; that average.
</a:t>
            </a: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839 customers are the best candidates for premium loyalty enrollment — they spend generously even when incentivized.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749808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877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Top Products by Discount Rate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243584"/>
          <a:ext cx="393192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Orders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Disc. Orders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Sneakers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Sweater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937760" y="3255264"/>
            <a:ext cx="36576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products cluster tightly between 47-50%, pointing to a systemic discount policy rather than product-specific promotions.
</a:t>
            </a: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~50% of orders on high-volume items compresses margins. Test reducing frequency on Pants (highest volume, 171 orders).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Ratings — Top 5 &amp; Bottom 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877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3931920" cy="1280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Rating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749808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3776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Products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25296"/>
          <a:ext cx="3886200" cy="12801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Rating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Jeans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Scarf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+ Q5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+ Q5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Impact &amp; Subscription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877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Standard vs Express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43584"/>
          <a:ext cx="3931920" cy="6400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 ($)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($)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39,067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Chart 0"/>
          <p:cNvGraphicFramePr/>
          <p:nvPr/>
        </p:nvGraphicFramePr>
        <p:xfrm>
          <a:off x="365760" y="2231136"/>
          <a:ext cx="4114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3968496"/>
            <a:ext cx="3749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AOV is $2 higher than Standard — customers choosing speed tend to buy higher-value items.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749808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93776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Subscriber vs Non-Subscriber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43584"/>
          <a:ext cx="3886200" cy="6400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 ($)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($)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Non-Sub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170,436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Subscriber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4846320" y="2176272"/>
          <a:ext cx="39319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1"/>
          <p:cNvSpPr/>
          <p:nvPr/>
        </p:nvSpPr>
        <p:spPr>
          <a:xfrm>
            <a:off x="4846320" y="3968496"/>
            <a:ext cx="3886200" cy="713232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983480" y="4005072"/>
            <a:ext cx="3611880" cy="6217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 Subscription program shows no behavioral uplift. AOV gap is only $0.40. Revamp perks to drive basket size.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New, Returning &amp; Loyal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39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prev. purchases ≤ 10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749808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804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039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prev. purchases 11-30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749808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804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1792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039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prev. purchases &gt; 30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23774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663440" y="237744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4632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46320" y="2852928"/>
            <a:ext cx="37490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Retention-Driven Base: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+ Loyal = 79.9% of all customers — a mature, high-retention base.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3465576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46320" y="3511296"/>
            <a:ext cx="37490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Loyal/Returning Gap: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18 customers separate the two top tiers, suggesting buyers who cross 11 purchases tend to stay for the long run.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4123944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46320" y="4169664"/>
            <a:ext cx="37490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Bottleneck: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at 20.1% indicate limited top-of-funnel reach. Targeted acquisition campaigns could meaningfully shift this split.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+ Q9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+ Q9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per Category &amp; Repeat Buyer Subscription Rate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877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Top 3 Products per Category (by Revenue)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3931920" cy="1706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($)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Accessories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Jewelry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Accessories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Sunglasses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Clothing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Clothing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Footwear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Outerwear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Outerwear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Blouse leads all products at $10,410.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dominates per-product revenue. </a:t>
            </a: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ROW_NUMBER() OVER (PARTITION BY category)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clean per-category ranking in a single pass.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749808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3776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Repeat Buyers (6+ purchases) &amp; Subscription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225296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0" y="126187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repeat buyers have NOT subscribed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846320" y="2633472"/>
          <a:ext cx="3840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01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Age Group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$68,066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Middle-aged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45-60</a:t>
            </a:r>
            <a:endParaRPr lang="en-US" sz="9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14600" y="749808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14600" y="1353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$65,216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749808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1353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$52,905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12280" y="749808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12280" y="7863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12280" y="1353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$46,894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16642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&gt;60</a:t>
            </a:r>
            <a:endParaRPr 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2706624"/>
          <a:ext cx="53035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5897880" y="2706624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035040" y="2798064"/>
            <a:ext cx="265176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Middle-aged + Adult = 57.2%
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cohorts are the revenue backbone. Target them with premium product lines and personalized campaigns.
</a:t>
            </a: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Gap: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20.1% they are underrepresented relative to purchasing power. Investigate channel preferences and product fit.</a:t>
            </a:r>
            <a:endParaRPr lang="en-US" sz="10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56A34EC7-06E2-D214-651F-B0C2160C4D6C}"/>
              </a:ext>
            </a:extLst>
          </p:cNvPr>
          <p:cNvSpPr/>
          <p:nvPr/>
        </p:nvSpPr>
        <p:spPr>
          <a:xfrm>
            <a:off x="4815840" y="20360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" y="896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Males = 68% of customers; female AOV already competitive at $60.2.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61488" y="11521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female campaigns on volume growth.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24912" y="987552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618488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72821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7282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1709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839 customers discounted yet spent above average.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61488" y="19659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in premium loyalty tier.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24912" y="1801368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432304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7552" y="25237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2779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products rated 3.6-3.9. Shirt &amp; Jeans at the bottom.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61488" y="27797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quality review for low-rated apparel.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24912" y="2615184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355848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3558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7552" y="3337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593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AOV $2 higher; nearly equal order volumes.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61488" y="35935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Express for high-value categories.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24912" y="3429000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4059936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169664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1696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7552" y="41513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4407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shows only $0.40 AOV lift — program underperforms.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61488" y="44074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Revamp perks to drive basket size.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24912" y="4242816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3440" y="804672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914400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914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85232" y="8961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Rate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73168" y="11521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products discounted ~50% of orders — systemic policy risk.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59168" y="115214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elasticity by reducing discount frequency.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22592" y="987552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63440" y="1618488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54880" y="1728216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0" y="17282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5232" y="1709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base is Returning/Loyal; New customers at only 20.1%.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59168" y="19659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top-of-funnel acquisition.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22592" y="1801368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663440" y="2432304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54880" y="2542032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85232" y="25237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3168" y="2779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Blouse leads all products at $10,410. Clothing dominates.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059168" y="27797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Clothing inventory depth.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022592" y="2615184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3246120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754880" y="3355848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0" y="33558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85232" y="3337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73168" y="3593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72.4% of repeat buyers (6+ purchases) have not subscribed.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59168" y="35935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subscription offer at 6th purchase.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022592" y="3429000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663440" y="4059936"/>
            <a:ext cx="402336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754880" y="4169664"/>
            <a:ext cx="457200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54880" y="41696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285232" y="41513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773168" y="44074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Middle-aged (45-60) = top cohort at 29.2%; Seniors underperform.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59168" y="44074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45-60 with premium; review Senior channels.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22592" y="4242816"/>
            <a:ext cx="0" cy="50292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1077</Words>
  <Application>Microsoft Office PowerPoint</Application>
  <PresentationFormat>On-screen Show (16:9)</PresentationFormat>
  <Paragraphs>284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— SQL Analysis</dc:title>
  <dc:subject>PptxGenJS Presentation</dc:subject>
  <dc:creator>Zaid Nasri Ahmad Shatat</dc:creator>
  <cp:lastModifiedBy>زيد نصرى احمد شتات</cp:lastModifiedBy>
  <cp:revision>4</cp:revision>
  <dcterms:created xsi:type="dcterms:W3CDTF">2026-06-19T21:01:28Z</dcterms:created>
  <dcterms:modified xsi:type="dcterms:W3CDTF">2026-06-19T21:45:32Z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4e309d-6359-4367-9d03-e248bac620e6_Enabled">
    <vt:lpwstr>true</vt:lpwstr>
  </property>
  <property fmtid="{D5CDD505-2E9C-101B-9397-08002B2CF9AE}" pid="3" name="MSIP_Label_284e309d-6359-4367-9d03-e248bac620e6_SetDate">
    <vt:lpwstr>2026-06-19T21:30:12Z</vt:lpwstr>
  </property>
  <property fmtid="{D5CDD505-2E9C-101B-9397-08002B2CF9AE}" pid="4" name="MSIP_Label_284e309d-6359-4367-9d03-e248bac620e6_Method">
    <vt:lpwstr>Standard</vt:lpwstr>
  </property>
  <property fmtid="{D5CDD505-2E9C-101B-9397-08002B2CF9AE}" pid="5" name="MSIP_Label_284e309d-6359-4367-9d03-e248bac620e6_Name">
    <vt:lpwstr>defa4170-0d19-0005-0004-bc88714345d2</vt:lpwstr>
  </property>
  <property fmtid="{D5CDD505-2E9C-101B-9397-08002B2CF9AE}" pid="6" name="MSIP_Label_284e309d-6359-4367-9d03-e248bac620e6_SiteId">
    <vt:lpwstr>4bf7cbc0-71a9-4cae-9625-6dc374768c3e</vt:lpwstr>
  </property>
  <property fmtid="{D5CDD505-2E9C-101B-9397-08002B2CF9AE}" pid="7" name="MSIP_Label_284e309d-6359-4367-9d03-e248bac620e6_ActionId">
    <vt:lpwstr>1b33031f-2764-4cda-b246-ed7fe0c1f479</vt:lpwstr>
  </property>
  <property fmtid="{D5CDD505-2E9C-101B-9397-08002B2CF9AE}" pid="8" name="MSIP_Label_284e309d-6359-4367-9d03-e248bac620e6_ContentBits">
    <vt:lpwstr>0</vt:lpwstr>
  </property>
  <property fmtid="{D5CDD505-2E9C-101B-9397-08002B2CF9AE}" pid="9" name="MSIP_Label_284e309d-6359-4367-9d03-e248bac620e6_Tag">
    <vt:lpwstr>10, 3, 0, 1</vt:lpwstr>
  </property>
</Properties>
</file>